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3FE6-4E66-7015-C536-2D3321FD8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80331-3793-F85E-7D21-A8048332D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1BBD7-461B-6739-BB62-01011374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C451-56B1-CC4D-B102-E0124EA4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0B8-A9AD-2129-A655-0EA46629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3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C8CB-35BE-5D26-FAEA-13E1AB17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70BA2-F7C6-2E35-710A-953A12AC2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A0ED9-D5FA-582D-A1E2-BBBC0494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C948-6B71-38E6-998C-4DF44AF4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4A420-0B9A-8111-98C5-6C14A441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5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30233-F256-D2E2-37F2-0F3AFC60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17558-1E35-68C8-6485-CA3ECAF8B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8A8C0-7915-2BFE-CAC9-DF44ADA1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355BD-031B-FDCF-1886-ED96DB60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C3E48-500E-02D2-79FE-5DBDD46B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25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97EF-23CB-895B-B422-39C72C3B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F779-D6F5-0C46-1866-72FA8921F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E003C-B7D6-2178-D281-A3C2455EA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E1D0A-D4E8-2270-F906-43F1DB4C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278B5-A83B-520A-615C-42E9F40F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97E83-F6AB-AEC5-C1C1-676744D1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14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236F-C1A4-B9A8-50CE-159B60C6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D857D-4721-D804-A659-2D3685E15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55910-4B3B-6E2E-503D-AEB0A7FD9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6F903-1B71-20EC-75CD-1938CA560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8FDC5-017F-58F8-6CD1-CFA85A8FB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28E53-0043-0CED-37A7-1F75281F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A7A5B-149F-3902-FC5C-861EDB5D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0BA61-D4E1-9838-C0C6-F49F9153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2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BBAA-492C-D9A3-4625-A50A3ADF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77819-5D16-6FA4-C8E4-DC78E37B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AE5A4-F7F7-9F79-E5E0-5AF81DD5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14A12-2BFA-057A-4B6B-35A781EF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66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FE682-FD7D-6C34-F24A-8FC31870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75196-BEF8-CABB-0F6B-21BEA2DC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0B64-CA48-7937-D12C-D2A439AD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4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4851-8536-C65B-E722-D5A18408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B68B4-1D51-EFC0-A1B7-101DD141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42E09-964B-6E1C-DA79-CE35CB058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7A16F-A3B0-15F9-3DF3-544252A8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76618-69E1-5ED9-2155-6652739A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00438-58AF-8C8C-74E1-A1F033AF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0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695A-5D4C-EAED-5E08-CE7957BB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58F16-93E0-F441-5163-A94F39617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AB31A-D49C-18E1-4105-94F3BDCAF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CD06C-3260-76E1-11DE-C78548C1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DF295-F9B6-5556-51CA-0988BA47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3B1FD-1FA4-4EB3-F67D-7B4DFF4F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5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9012-4632-356C-5AEE-4208EAE9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0B37F-A4B1-FA1D-C802-510A6521C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E0971-5876-093D-2789-FB37635C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135A-25E3-EAD1-29B4-E6D0F359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623FC-0E39-E0CE-0041-D894FBBD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3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9B313-C1A2-FD60-58B5-5BC04DAE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D85C1-58C6-D6C2-928D-4C5B21F93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BA2B-DBB5-5D3C-A1FE-6C7EE92E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5F241-7260-9B17-4ECB-D103DC1D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75E93-3D78-9B45-6FFB-923AF898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81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99B46-6588-E1ED-BAC9-BB3604A6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926CB-B278-0469-ED0F-A422BB74A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D9655-FADA-E53D-936E-3DFC0270E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59E5-CDC0-4F36-BBEC-3D594747165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0838-FCCD-09EA-5526-C5F49104D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BC182-66E7-B2FE-7D29-AB8AF623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26FBC-10A7-4A40-9468-024B6F8BC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4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EDA1-13C0-5C2A-ED3D-4EEE60E94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524" y="150756"/>
            <a:ext cx="9144000" cy="122754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7030A0"/>
                </a:solidFill>
              </a:rPr>
              <a:t>Data Analyst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2A857-2AD8-4E38-C6AE-4F5F55237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0812"/>
            <a:ext cx="9144000" cy="3546988"/>
          </a:xfrm>
        </p:spPr>
        <p:txBody>
          <a:bodyPr>
            <a:normAutofit lnSpcReduction="10000"/>
          </a:bodyPr>
          <a:lstStyle/>
          <a:p>
            <a:pPr lvl="2"/>
            <a:r>
              <a:rPr lang="en-IN" sz="2800" dirty="0">
                <a:solidFill>
                  <a:srgbClr val="00B0F0"/>
                </a:solidFill>
              </a:rPr>
              <a:t>Portfolio &amp; Final Presentation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r>
              <a:rPr lang="en-IN" dirty="0"/>
              <a:t>                                          Name: Udayagiri Bhavani</a:t>
            </a:r>
          </a:p>
          <a:p>
            <a:pPr lvl="2"/>
            <a:r>
              <a:rPr lang="en-IN" dirty="0"/>
              <a:t>                                                                           Internship Organisation: Apex Planet </a:t>
            </a:r>
            <a:r>
              <a:rPr lang="en-IN" dirty="0" err="1"/>
              <a:t>Pvt.Ltd</a:t>
            </a:r>
            <a:endParaRPr lang="en-IN" dirty="0"/>
          </a:p>
          <a:p>
            <a:pPr lvl="2"/>
            <a:r>
              <a:rPr lang="en-IN" dirty="0"/>
              <a:t>                            Duration:60 days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594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A570-AE94-5699-BDC3-ED9A3B41C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Task1: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7FBBD-8BFA-A40B-9877-6B2BD04F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991"/>
            <a:ext cx="10515600" cy="5110884"/>
          </a:xfrm>
        </p:spPr>
        <p:txBody>
          <a:bodyPr>
            <a:normAutofit fontScale="25000" lnSpcReduction="20000"/>
          </a:bodyPr>
          <a:lstStyle/>
          <a:p>
            <a:pPr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7200" b="1" dirty="0">
                <a:solidFill>
                  <a:srgbClr val="00B0F0"/>
                </a:solidFill>
                <a:latin typeface="Mona Sans VF"/>
              </a:rPr>
              <a:t>Data Quality Assessment</a:t>
            </a:r>
          </a:p>
          <a:p>
            <a:pPr indent="0">
              <a:spcAft>
                <a:spcPts val="1200"/>
              </a:spcAft>
              <a:buNone/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The following issues were identified: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Missing values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Duplicate records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Data type inconsistencies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Potential outliers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7200" b="1" dirty="0">
                <a:solidFill>
                  <a:srgbClr val="00B0F0"/>
                </a:solidFill>
                <a:latin typeface="Mona Sans VF"/>
              </a:rPr>
              <a:t>Data Cleaning Steps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Loaded the dataset into Google </a:t>
            </a:r>
            <a:r>
              <a:rPr lang="en-IN" sz="7200" dirty="0" err="1">
                <a:solidFill>
                  <a:srgbClr val="1F2328"/>
                </a:solidFill>
                <a:latin typeface="Mona Sans VF"/>
              </a:rPr>
              <a:t>Colab</a:t>
            </a:r>
            <a:r>
              <a:rPr lang="en-IN" sz="7200" dirty="0">
                <a:solidFill>
                  <a:srgbClr val="1F2328"/>
                </a:solidFill>
                <a:latin typeface="Mona Sans VF"/>
              </a:rPr>
              <a:t> using Pandas.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Identified missing values using </a:t>
            </a:r>
            <a:r>
              <a:rPr lang="en-IN" sz="7200" dirty="0" err="1">
                <a:solidFill>
                  <a:srgbClr val="1F2328"/>
                </a:solidFill>
                <a:latin typeface="Monaspace Neon"/>
              </a:rPr>
              <a:t>isnull</a:t>
            </a:r>
            <a:r>
              <a:rPr lang="en-IN" sz="7200" dirty="0">
                <a:solidFill>
                  <a:srgbClr val="1F2328"/>
                </a:solidFill>
                <a:latin typeface="Monaspace Neon"/>
              </a:rPr>
              <a:t>()</a:t>
            </a:r>
            <a:r>
              <a:rPr lang="en-IN" sz="7200" dirty="0">
                <a:solidFill>
                  <a:srgbClr val="1F2328"/>
                </a:solidFill>
                <a:latin typeface="Mona Sans VF"/>
              </a:rPr>
              <a:t>.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Filled missing values using appropriate methods.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7200" dirty="0">
                <a:solidFill>
                  <a:srgbClr val="1F2328"/>
                </a:solidFill>
                <a:latin typeface="Mona Sans VF"/>
              </a:rPr>
              <a:t>Detected and removed duplicate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1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8837-14EA-7D8E-B4BA-06C1B33F2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575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24AE9-D128-6F46-74C4-C6C80E0C6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55"/>
            <a:ext cx="10515600" cy="5517572"/>
          </a:xfrm>
        </p:spPr>
        <p:txBody>
          <a:bodyPr>
            <a:noAutofit/>
          </a:bodyPr>
          <a:lstStyle/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Converted date columns into proper datetime format.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Performed exploratory checks for outliers.</a:t>
            </a:r>
          </a:p>
          <a:p>
            <a:pPr marL="342900" lvl="0" indent="-342900">
              <a:spcAft>
                <a:spcPts val="1200"/>
              </a:spcAft>
              <a:buFont typeface="+mj-lt"/>
              <a:buAutoNum type="arabicPeriod"/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Verified data consistency after cleaning.</a:t>
            </a:r>
          </a:p>
          <a:p>
            <a:pPr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1800" b="1" dirty="0">
                <a:solidFill>
                  <a:srgbClr val="CC00FF"/>
                </a:solidFill>
                <a:latin typeface="Mona Sans VF"/>
              </a:rPr>
              <a:t>Results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Successfully cleaned the dataset.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Removed duplicate records.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Handled missing values.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Standardized data formats.</a:t>
            </a:r>
          </a:p>
          <a:p>
            <a:pPr marL="342900" lvl="0" indent="-342900">
              <a:spcAft>
                <a:spcPts val="1200"/>
              </a:spcAft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Produced an analysis-ready dataset for further analysis.</a:t>
            </a:r>
          </a:p>
          <a:p>
            <a:pPr indent="0">
              <a:buNone/>
            </a:pPr>
            <a:r>
              <a:rPr lang="en-IN" sz="1800" dirty="0">
                <a:solidFill>
                  <a:srgbClr val="1F2328"/>
                </a:solidFill>
                <a:latin typeface="Mona Sans VF"/>
              </a:rPr>
              <a:t>Task 1 provided hands-on experience in data cleaning and preprocessing, which are essential steps in any data analytics workflow. The cleaned dataset is ready for exploratory data analysis and business intelligence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8592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6859-08D0-EEC9-A87F-EC6EA683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044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7030A0"/>
                </a:solidFill>
              </a:rPr>
              <a:t>Task2: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A79E-27AA-22D2-7D63-8E1EC7494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264"/>
            <a:ext cx="10515600" cy="5106699"/>
          </a:xfrm>
        </p:spPr>
        <p:txBody>
          <a:bodyPr>
            <a:noAutofit/>
          </a:bodyPr>
          <a:lstStyle/>
          <a:p>
            <a:r>
              <a:rPr lang="en-IN" sz="1800" dirty="0"/>
              <a:t>The objective of the project is to perform Exploratory Data Analysis (EDA), answer business questions using SQL, and create a dashboard to visualize key business insights.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FF00FF"/>
                </a:solidFill>
              </a:rPr>
              <a:t>Tools Used</a:t>
            </a:r>
          </a:p>
          <a:p>
            <a:pPr lvl="0"/>
            <a:r>
              <a:rPr lang="en-IN" sz="1800" dirty="0"/>
              <a:t>Python</a:t>
            </a:r>
          </a:p>
          <a:p>
            <a:pPr lvl="0"/>
            <a:r>
              <a:rPr lang="en-IN" sz="1800" dirty="0"/>
              <a:t>Pandas</a:t>
            </a:r>
          </a:p>
          <a:p>
            <a:pPr lvl="0"/>
            <a:r>
              <a:rPr lang="en-IN" sz="1800" dirty="0"/>
              <a:t>Matplotlib</a:t>
            </a:r>
          </a:p>
          <a:p>
            <a:pPr lvl="0"/>
            <a:r>
              <a:rPr lang="en-IN" sz="1800" dirty="0"/>
              <a:t>Seaborn</a:t>
            </a:r>
          </a:p>
          <a:p>
            <a:pPr lvl="0"/>
            <a:r>
              <a:rPr lang="en-IN" sz="1800" dirty="0"/>
              <a:t>SQL (SQLite)</a:t>
            </a:r>
          </a:p>
          <a:p>
            <a:pPr marL="0" indent="0">
              <a:buNone/>
            </a:pPr>
            <a:r>
              <a:rPr lang="en-IN" sz="1800" b="1" dirty="0" err="1">
                <a:solidFill>
                  <a:srgbClr val="CC00FF"/>
                </a:solidFill>
              </a:rPr>
              <a:t>EDA_Notebook</a:t>
            </a:r>
            <a:endParaRPr lang="en-IN" sz="1800" b="1" dirty="0">
              <a:solidFill>
                <a:srgbClr val="CC00FF"/>
              </a:solidFill>
            </a:endParaRPr>
          </a:p>
          <a:p>
            <a:pPr lvl="0"/>
            <a:r>
              <a:rPr lang="en-IN" sz="1800" dirty="0"/>
              <a:t>Data loading</a:t>
            </a:r>
          </a:p>
          <a:p>
            <a:pPr lvl="0"/>
            <a:r>
              <a:rPr lang="en-IN" sz="1800" dirty="0"/>
              <a:t>Data cleaning</a:t>
            </a:r>
          </a:p>
          <a:p>
            <a:pPr lvl="0"/>
            <a:r>
              <a:rPr lang="en-IN" sz="1800" dirty="0"/>
              <a:t>Descriptive statistics</a:t>
            </a:r>
          </a:p>
          <a:p>
            <a:pPr lvl="0"/>
            <a:r>
              <a:rPr lang="en-IN" sz="1800" dirty="0"/>
              <a:t>Histogram</a:t>
            </a:r>
          </a:p>
          <a:p>
            <a:pPr lvl="0"/>
            <a:r>
              <a:rPr lang="en-IN" sz="1800" dirty="0"/>
              <a:t>Scatter plot</a:t>
            </a:r>
          </a:p>
          <a:p>
            <a:pPr lvl="0"/>
            <a:r>
              <a:rPr lang="en-IN" sz="1800" dirty="0"/>
              <a:t>Correlation heatmap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9266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0518-F0F3-5406-C1BF-3F4CC0DD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A1C1-2706-D4A8-1F2E-9237B725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091"/>
            <a:ext cx="10515600" cy="5262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b="1" dirty="0" err="1">
                <a:solidFill>
                  <a:srgbClr val="FFC000"/>
                </a:solidFill>
              </a:rPr>
              <a:t>EDA_Report</a:t>
            </a:r>
            <a:endParaRPr lang="en-IN" sz="1900" b="1" dirty="0">
              <a:solidFill>
                <a:srgbClr val="FFC000"/>
              </a:solidFill>
            </a:endParaRPr>
          </a:p>
          <a:p>
            <a:r>
              <a:rPr lang="en-IN" sz="1900" dirty="0"/>
              <a:t>Detailed report containing:</a:t>
            </a:r>
          </a:p>
          <a:p>
            <a:pPr lvl="0"/>
            <a:r>
              <a:rPr lang="en-IN" sz="1900" dirty="0"/>
              <a:t>Dataset overview</a:t>
            </a:r>
          </a:p>
          <a:p>
            <a:pPr lvl="0"/>
            <a:r>
              <a:rPr lang="en-IN" sz="1900" dirty="0"/>
              <a:t>Statistical analysis</a:t>
            </a:r>
          </a:p>
          <a:p>
            <a:pPr lvl="0"/>
            <a:r>
              <a:rPr lang="en-IN" sz="1900" dirty="0"/>
              <a:t>Visualizations</a:t>
            </a:r>
          </a:p>
          <a:p>
            <a:pPr lvl="0"/>
            <a:r>
              <a:rPr lang="en-IN" sz="1900" dirty="0"/>
              <a:t>SQL findings</a:t>
            </a:r>
          </a:p>
          <a:p>
            <a:pPr lvl="0"/>
            <a:r>
              <a:rPr lang="en-IN" sz="1900" b="1" dirty="0">
                <a:solidFill>
                  <a:srgbClr val="FF00FF"/>
                </a:solidFill>
              </a:rPr>
              <a:t>Key Findings</a:t>
            </a:r>
          </a:p>
          <a:p>
            <a:r>
              <a:rPr lang="en-IN" sz="1900" dirty="0"/>
              <a:t>Identified the highest revenue-generating products.</a:t>
            </a:r>
          </a:p>
          <a:p>
            <a:pPr lvl="0"/>
            <a:r>
              <a:rPr lang="en-IN" sz="1900" dirty="0"/>
              <a:t>Compared sales across different categories.</a:t>
            </a:r>
          </a:p>
          <a:p>
            <a:pPr lvl="0"/>
            <a:r>
              <a:rPr lang="en-IN" sz="1900" dirty="0" err="1"/>
              <a:t>Analyzed</a:t>
            </a:r>
            <a:r>
              <a:rPr lang="en-IN" sz="1900" dirty="0"/>
              <a:t> customer purchasing </a:t>
            </a:r>
            <a:r>
              <a:rPr lang="en-IN" sz="1900" dirty="0" err="1"/>
              <a:t>behavior</a:t>
            </a:r>
            <a:r>
              <a:rPr lang="en-IN" sz="1900" dirty="0"/>
              <a:t>.</a:t>
            </a:r>
          </a:p>
          <a:p>
            <a:pPr lvl="0"/>
            <a:r>
              <a:rPr lang="en-IN" sz="1900" dirty="0"/>
              <a:t>Examined city-wise sales performance.</a:t>
            </a:r>
          </a:p>
          <a:p>
            <a:pPr lvl="0"/>
            <a:r>
              <a:rPr lang="en-IN" sz="1900" dirty="0"/>
              <a:t>Observed monthly sales trends.</a:t>
            </a:r>
          </a:p>
          <a:p>
            <a:pPr lvl="0"/>
            <a:r>
              <a:rPr lang="en-IN" sz="1900" dirty="0"/>
              <a:t>Explored the relationship between Quantity and Total Sales using correlation analysis.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92D050"/>
                </a:solidFill>
              </a:rPr>
              <a:t>Conclusion</a:t>
            </a:r>
          </a:p>
          <a:p>
            <a:r>
              <a:rPr lang="en-IN" sz="1900" dirty="0"/>
              <a:t>The project successfully identified top-performing products, valuable customers, and profitability trends through data analysis and visualization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07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68A3-E547-DBB6-55E9-8149EC1B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79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92D050"/>
                </a:solidFill>
              </a:rPr>
              <a:t>Task3: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E0C7-06CC-E856-FEFD-D3E84EF11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918"/>
            <a:ext cx="10515600" cy="5169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 KPI           		Business Purpose      </a:t>
            </a:r>
          </a:p>
          <a:p>
            <a:r>
              <a:rPr lang="en-US" sz="1800" dirty="0"/>
              <a:t> -------       		--------------------  </a:t>
            </a:r>
          </a:p>
          <a:p>
            <a:r>
              <a:rPr lang="en-US" sz="1800" dirty="0"/>
              <a:t> Total Sales        	Total Sales</a:t>
            </a:r>
          </a:p>
          <a:p>
            <a:r>
              <a:rPr lang="en-US" sz="1800" dirty="0"/>
              <a:t>Unit Price          	Price of single item</a:t>
            </a:r>
          </a:p>
          <a:p>
            <a:r>
              <a:rPr lang="en-US" sz="1800" dirty="0"/>
              <a:t>Category            	Easy to identify products</a:t>
            </a:r>
          </a:p>
          <a:p>
            <a:r>
              <a:rPr lang="en-US" sz="1800" dirty="0"/>
              <a:t>Total Revenue           Overall money gained and spent</a:t>
            </a:r>
          </a:p>
          <a:p>
            <a:r>
              <a:rPr lang="en-US" sz="1800" dirty="0"/>
              <a:t>Profit              	Amount earned on sales</a:t>
            </a:r>
          </a:p>
          <a:p>
            <a:r>
              <a:rPr lang="en-US" sz="1800" dirty="0"/>
              <a:t>## 🔎 Deep-Dive Analysis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FF"/>
                </a:solidFill>
              </a:rPr>
              <a:t>Segmentation Analysis</a:t>
            </a:r>
          </a:p>
          <a:p>
            <a:r>
              <a:rPr lang="en-US" sz="1800" dirty="0"/>
              <a:t>Based on the dataset the segmentation analysis is preferable and usable.</a:t>
            </a:r>
          </a:p>
          <a:p>
            <a:r>
              <a:rPr lang="en-US" sz="1800" dirty="0"/>
              <a:t>### Analysis Approach</a:t>
            </a:r>
          </a:p>
          <a:p>
            <a:r>
              <a:rPr lang="en-US" sz="1800" dirty="0"/>
              <a:t>1. Defined the core KPIs.</a:t>
            </a:r>
          </a:p>
          <a:p>
            <a:r>
              <a:rPr lang="en-US" sz="1800" dirty="0"/>
              <a:t>2. Analyzed trends and patterns.</a:t>
            </a:r>
          </a:p>
          <a:p>
            <a:r>
              <a:rPr lang="en-US" sz="1800" dirty="0"/>
              <a:t>3. Investigated relationships between relevant variables.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9042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0C7-279F-191F-E8EA-2A0FC248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1E20-6D3D-EFFD-9D62-1FF4C9EFF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735"/>
            <a:ext cx="10515600" cy="5642265"/>
          </a:xfrm>
        </p:spPr>
        <p:txBody>
          <a:bodyPr>
            <a:noAutofit/>
          </a:bodyPr>
          <a:lstStyle/>
          <a:p>
            <a:r>
              <a:rPr lang="en-US" sz="1800" dirty="0"/>
              <a:t>5. Investigated relationships between relevant variables.</a:t>
            </a:r>
          </a:p>
          <a:p>
            <a:r>
              <a:rPr lang="en-US" sz="1800" dirty="0"/>
              <a:t>6. Identified important business insights.</a:t>
            </a:r>
          </a:p>
          <a:p>
            <a:r>
              <a:rPr lang="en-US" sz="1800" dirty="0"/>
              <a:t>7. Presented the findings through an interactive dashboard.</a:t>
            </a:r>
          </a:p>
          <a:p>
            <a:r>
              <a:rPr lang="en-US" sz="1800" dirty="0"/>
              <a:t>The dashboard provides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FF"/>
                </a:solidFill>
              </a:rPr>
              <a:t>KPI cards</a:t>
            </a:r>
          </a:p>
          <a:p>
            <a:r>
              <a:rPr lang="en-US" sz="1800" dirty="0"/>
              <a:t> Interactive filters</a:t>
            </a:r>
          </a:p>
          <a:p>
            <a:r>
              <a:rPr lang="en-US" sz="1800" dirty="0"/>
              <a:t> Trend analysis</a:t>
            </a:r>
          </a:p>
          <a:p>
            <a:r>
              <a:rPr lang="en-US" sz="1800" dirty="0"/>
              <a:t> Category-wise analysis</a:t>
            </a:r>
          </a:p>
          <a:p>
            <a:r>
              <a:rPr lang="en-US" sz="1800" dirty="0"/>
              <a:t> Dashboard</a:t>
            </a:r>
          </a:p>
          <a:p>
            <a:r>
              <a:rPr lang="en-US" sz="1800" dirty="0"/>
              <a:t> Detailed business </a:t>
            </a:r>
            <a:r>
              <a:rPr lang="en-US" sz="1800" dirty="0" err="1"/>
              <a:t>insightsThe</a:t>
            </a:r>
            <a:r>
              <a:rPr lang="en-US" sz="1800" dirty="0"/>
              <a:t> major findings from the deep-dive analysis are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C00FF"/>
                </a:solidFill>
              </a:rPr>
              <a:t>Key Findings</a:t>
            </a:r>
          </a:p>
          <a:p>
            <a:r>
              <a:rPr lang="en-US" sz="1800" dirty="0"/>
              <a:t>1. [Revenue] – [Brief explanation]</a:t>
            </a:r>
          </a:p>
          <a:p>
            <a:r>
              <a:rPr lang="en-US" sz="1800" dirty="0"/>
              <a:t>2. [Total Sales] – [The sales can be increased or decreased based on requirement, price </a:t>
            </a:r>
            <a:r>
              <a:rPr lang="en-US" sz="1800" dirty="0" err="1"/>
              <a:t>etc</a:t>
            </a:r>
            <a:r>
              <a:rPr lang="en-US" sz="1800" dirty="0"/>
              <a:t>]</a:t>
            </a:r>
          </a:p>
          <a:p>
            <a:r>
              <a:rPr lang="en-US" sz="1800" dirty="0"/>
              <a:t>3. [Profit] – [Amount gained by selling goods]</a:t>
            </a:r>
          </a:p>
          <a:p>
            <a:r>
              <a:rPr lang="en-US" sz="1800" dirty="0"/>
              <a:t>4. [Customer Priority]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386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FD44-4F13-D8FB-7A92-466D8758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74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33CC"/>
                </a:solidFill>
              </a:rPr>
              <a:t>Task4: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2E8D-2944-60EF-659C-8FAAF4DB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173"/>
            <a:ext cx="10515600" cy="500279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solidFill>
                  <a:schemeClr val="accent2"/>
                </a:solidFill>
              </a:rPr>
              <a:t>Data Storytelling</a:t>
            </a:r>
          </a:p>
          <a:p>
            <a:pPr lvl="0"/>
            <a:r>
              <a:rPr lang="en-IN" sz="7200" dirty="0"/>
              <a:t>Which regions perform the best?</a:t>
            </a:r>
          </a:p>
          <a:p>
            <a:pPr lvl="0"/>
            <a:r>
              <a:rPr lang="en-IN" sz="7200" dirty="0"/>
              <a:t>How do sales and profit change over time?</a:t>
            </a:r>
          </a:p>
          <a:p>
            <a:pPr lvl="0"/>
            <a:r>
              <a:rPr lang="en-IN" sz="7200" dirty="0"/>
              <a:t>Which products contribute most to revenue?</a:t>
            </a:r>
          </a:p>
          <a:p>
            <a:pPr lvl="0"/>
            <a:r>
              <a:rPr lang="en-IN" sz="7200" dirty="0"/>
              <a:t>Which customer segments are most valuable?</a:t>
            </a:r>
          </a:p>
          <a:p>
            <a:r>
              <a:rPr lang="en-IN" sz="7200" dirty="0"/>
              <a:t>The insights support better strategic planning and business decision-making.</a:t>
            </a:r>
          </a:p>
          <a:p>
            <a:pPr marL="0" indent="0">
              <a:buNone/>
            </a:pPr>
            <a:r>
              <a:rPr lang="en-IN" sz="7200" b="1" dirty="0"/>
              <a:t>📊 </a:t>
            </a:r>
            <a:r>
              <a:rPr lang="en-IN" sz="7200" b="1" dirty="0">
                <a:solidFill>
                  <a:srgbClr val="CC00FF"/>
                </a:solidFill>
              </a:rPr>
              <a:t>Statistical Validation</a:t>
            </a:r>
          </a:p>
          <a:p>
            <a:r>
              <a:rPr lang="en-IN" sz="7200" b="1" dirty="0"/>
              <a:t>Is there a significant relationship between Sales and Profit?</a:t>
            </a:r>
            <a:endParaRPr lang="en-IN" sz="7200" dirty="0"/>
          </a:p>
          <a:p>
            <a:r>
              <a:rPr lang="en-IN" sz="7200" b="1" dirty="0"/>
              <a:t>Null Hypothesis (H₀)</a:t>
            </a:r>
          </a:p>
          <a:p>
            <a:r>
              <a:rPr lang="en-IN" sz="7200" dirty="0"/>
              <a:t>There is no significant relationship between Sales and Profit.</a:t>
            </a:r>
          </a:p>
          <a:p>
            <a:r>
              <a:rPr lang="en-IN" sz="7200" b="1" dirty="0"/>
              <a:t>Alternative Hypothesis (H₁)</a:t>
            </a:r>
          </a:p>
          <a:p>
            <a:r>
              <a:rPr lang="en-IN" sz="7200" dirty="0"/>
              <a:t>There is a significant relationship between Sales and Profit.</a:t>
            </a:r>
          </a:p>
          <a:p>
            <a:r>
              <a:rPr lang="en-IN" sz="7200" b="1" dirty="0"/>
              <a:t>Statistical Method</a:t>
            </a:r>
          </a:p>
          <a:p>
            <a:pPr lvl="0"/>
            <a:r>
              <a:rPr lang="en-IN" sz="7200" dirty="0"/>
              <a:t>Pearson Correlation Analysis, Confidence Level: 95%</a:t>
            </a:r>
          </a:p>
          <a:p>
            <a:pPr lvl="0"/>
            <a:r>
              <a:rPr lang="en-IN" sz="7200" dirty="0"/>
              <a:t>Significance Level (α = 0.05)</a:t>
            </a:r>
          </a:p>
          <a:p>
            <a:r>
              <a:rPr lang="en-IN" sz="7200" dirty="0"/>
              <a:t>The statistical analysis validates the dashboard insights and supports evidence-based business decisions.</a:t>
            </a:r>
          </a:p>
          <a:p>
            <a:pPr marL="0" indent="0">
              <a:buNone/>
            </a:pPr>
            <a:br>
              <a:rPr lang="en-IN" sz="5600" dirty="0"/>
            </a:br>
            <a:endParaRPr lang="en-IN" sz="5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06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8B4B-BF8E-CE80-1C52-AB220329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83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EE42-D737-0E2F-CAEA-6ED533CD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899"/>
            <a:ext cx="10515600" cy="50069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b="1" dirty="0"/>
              <a:t>💡 </a:t>
            </a:r>
            <a:r>
              <a:rPr lang="en-IN" sz="7200" b="1" dirty="0">
                <a:solidFill>
                  <a:schemeClr val="accent2"/>
                </a:solidFill>
              </a:rPr>
              <a:t>Business Recommendations</a:t>
            </a:r>
          </a:p>
          <a:p>
            <a:pPr lvl="0"/>
            <a:r>
              <a:rPr lang="en-IN" sz="7200" dirty="0"/>
              <a:t>Increase focus on high-performing products.</a:t>
            </a:r>
          </a:p>
          <a:p>
            <a:pPr lvl="0"/>
            <a:r>
              <a:rPr lang="en-IN" sz="7200" dirty="0"/>
              <a:t>Improve sales strategies in low-performing regions.</a:t>
            </a:r>
          </a:p>
          <a:p>
            <a:pPr lvl="0"/>
            <a:r>
              <a:rPr lang="en-IN" sz="7200" dirty="0"/>
              <a:t>Encourage bulk purchases through promotional offers.</a:t>
            </a:r>
          </a:p>
          <a:p>
            <a:pPr lvl="0"/>
            <a:r>
              <a:rPr lang="en-IN" sz="7200" dirty="0"/>
              <a:t>Monitor KPIs regularly for performance evaluation.</a:t>
            </a:r>
          </a:p>
          <a:p>
            <a:pPr lvl="0"/>
            <a:r>
              <a:rPr lang="en-IN" sz="7200" dirty="0"/>
              <a:t>Use monthly trends for demand forecasting.</a:t>
            </a:r>
          </a:p>
          <a:p>
            <a:pPr lvl="0"/>
            <a:r>
              <a:rPr lang="en-IN" sz="7200" dirty="0"/>
              <a:t>Apply statistical validation before major business decisions.</a:t>
            </a:r>
          </a:p>
          <a:p>
            <a:pPr marL="0" indent="0">
              <a:buNone/>
            </a:pPr>
            <a:r>
              <a:rPr lang="en-IN" sz="7200" dirty="0"/>
              <a:t>Through this project, I gained practical experience in:</a:t>
            </a:r>
          </a:p>
          <a:p>
            <a:pPr lvl="0"/>
            <a:r>
              <a:rPr lang="en-IN" sz="7200" dirty="0"/>
              <a:t>Data Cleaning and Preparation</a:t>
            </a:r>
          </a:p>
          <a:p>
            <a:pPr lvl="0"/>
            <a:r>
              <a:rPr lang="en-IN" sz="7200" dirty="0"/>
              <a:t>Power BI Dashboard Development</a:t>
            </a:r>
          </a:p>
          <a:p>
            <a:pPr lvl="0"/>
            <a:r>
              <a:rPr lang="en-IN" sz="7200" dirty="0"/>
              <a:t>KPI Analysis</a:t>
            </a:r>
          </a:p>
          <a:p>
            <a:pPr lvl="0"/>
            <a:r>
              <a:rPr lang="en-IN" sz="7200" dirty="0"/>
              <a:t>Data Storytelling</a:t>
            </a:r>
          </a:p>
          <a:p>
            <a:pPr lvl="0"/>
            <a:r>
              <a:rPr lang="en-IN" sz="7200" dirty="0"/>
              <a:t>Business Intelligence</a:t>
            </a:r>
          </a:p>
          <a:p>
            <a:pPr lvl="0"/>
            <a:r>
              <a:rPr lang="en-IN" sz="7200" dirty="0"/>
              <a:t>Statistical Validation</a:t>
            </a:r>
          </a:p>
          <a:p>
            <a:pPr lvl="0"/>
            <a:r>
              <a:rPr lang="en-IN" sz="7200" dirty="0"/>
              <a:t>Business Decision Support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647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EBD4-E153-B984-2ED9-35F2B8FB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01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6B0BB-C4F6-66A3-1436-20DA2E18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209"/>
            <a:ext cx="10515600" cy="48157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800" dirty="0">
                <a:solidFill>
                  <a:srgbClr val="FF00FF"/>
                </a:solidFill>
              </a:rPr>
              <a:t>Key Learnings:</a:t>
            </a:r>
          </a:p>
          <a:p>
            <a:pPr lvl="0"/>
            <a:r>
              <a:rPr lang="en-IN" sz="1800" dirty="0"/>
              <a:t>Technical skills </a:t>
            </a:r>
          </a:p>
          <a:p>
            <a:pPr lvl="0"/>
            <a:r>
              <a:rPr lang="en-IN" sz="1800" dirty="0"/>
              <a:t>Problem solving </a:t>
            </a:r>
          </a:p>
          <a:p>
            <a:pPr lvl="0"/>
            <a:r>
              <a:rPr lang="en-IN" sz="1800" dirty="0"/>
              <a:t>Data analysis </a:t>
            </a:r>
          </a:p>
          <a:p>
            <a:pPr lvl="0"/>
            <a:r>
              <a:rPr lang="en-IN" sz="1800" dirty="0"/>
              <a:t>Documentation </a:t>
            </a:r>
          </a:p>
          <a:p>
            <a:pPr lvl="0"/>
            <a:r>
              <a:rPr lang="en-IN" sz="1800" dirty="0"/>
              <a:t>Communication </a:t>
            </a:r>
          </a:p>
          <a:p>
            <a:pPr lvl="0"/>
            <a:r>
              <a:rPr lang="en-IN" sz="1800" dirty="0"/>
              <a:t>Presentation</a:t>
            </a:r>
          </a:p>
          <a:p>
            <a:pPr marL="0" lvl="0" indent="0">
              <a:buNone/>
            </a:pPr>
            <a:r>
              <a:rPr lang="en-IN" sz="1800" dirty="0">
                <a:solidFill>
                  <a:srgbClr val="CC00FF"/>
                </a:solidFill>
              </a:rPr>
              <a:t>Conclusion: </a:t>
            </a:r>
          </a:p>
          <a:p>
            <a:pPr marL="0" indent="0">
              <a:buNone/>
            </a:pPr>
            <a:r>
              <a:rPr lang="en-IN" sz="1800" dirty="0"/>
              <a:t>This internship provided me with valuable hands-on experience in data analytics and helped me understand how data-driven solutions are developed and presented in real-world scenarios.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6239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715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Mona Sans VF</vt:lpstr>
      <vt:lpstr>Monaspace Neon</vt:lpstr>
      <vt:lpstr>Office Theme</vt:lpstr>
      <vt:lpstr>Data Analyst Internship</vt:lpstr>
      <vt:lpstr>Task1:</vt:lpstr>
      <vt:lpstr>PowerPoint Presentation</vt:lpstr>
      <vt:lpstr>Task2:</vt:lpstr>
      <vt:lpstr>PowerPoint Presentation</vt:lpstr>
      <vt:lpstr>Task3:</vt:lpstr>
      <vt:lpstr>PowerPoint Presentation</vt:lpstr>
      <vt:lpstr>Task4: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U</dc:creator>
  <cp:lastModifiedBy>BHAVANI U</cp:lastModifiedBy>
  <cp:revision>2</cp:revision>
  <dcterms:created xsi:type="dcterms:W3CDTF">2026-08-12T02:15:47Z</dcterms:created>
  <dcterms:modified xsi:type="dcterms:W3CDTF">2026-08-13T02:22:42Z</dcterms:modified>
</cp:coreProperties>
</file>